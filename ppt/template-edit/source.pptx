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76" r:id="rId3"/>
    <p:sldId id="257" r:id="rId4"/>
    <p:sldId id="277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7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7" d="100"/>
          <a:sy n="77" d="100"/>
        </p:scale>
        <p:origin x="686" y="82"/>
      </p:cViewPr>
      <p:guideLst>
        <p:guide orient="horz" pos="169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团队将向大家汇报我们的项目——“智慧校园餐厅推荐系统”。这个项目旨在通过智能算法，优化同学们的校园餐饮出行体验。在接下来的时间里，我们将详细介绍项目的背景、已实现的功能、技术亮点以及未来的发展规划。希望通过这次汇报，能让大家对我们的工作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来看看项目的背景。我们发现，在校园生活中，“今天吃什么”这个简单的问题背后，隐藏着诸多痛点。比如选择困难、信息不对称、出行路线复杂以及高峰期漫长的等待。这些问题不仅影响了同学们的用餐体验，也浪费了宝贵的时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因此，我们提出了“智慧校园餐厅推荐系统”，旨在通过智能推荐、信息聚合和路径优化，为大家提供一个高效、个性化的餐饮出行解决方案，从而提升整体的校园生活品质。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来看看项目的背景。我们发现，在校园生活中，“今天吃什么”这个简单的问题背后，隐藏着诸多痛点。比如选择困难、信息不对称、出行路线复杂以及高峰期漫长的等待。这些问题不仅影响了同学们的用餐体验，也浪费了宝贵的时间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因此，我们提出了“智慧校园餐厅推荐系统”，旨在通过智能推荐、信息聚合和路径优化，为大家提供一个高效、个性化的餐饮出行解决方案，从而提升整体的校园生活品质。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我们的第一个核心功能是智能餐厅推荐。它就像一个私人美食顾问，能根据你的位置和偏好，为你推荐最合适的餐厅。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我们设计的推荐算法是一个加权评分模型，综合考虑了评分、价格、距离和等待时间等多个因素。这个算法不仅效果好，而且非常灵活，我们可以随时调整各个因素的权重来优化推荐效果。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目前，我们的数据库已经收录了近200家餐厅，覆盖了各种菜系和价格区间，确保能满足不同用户的用餐需求。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选好了餐厅，接下来就是怎么走的问题。我们的第二个核心功能是多模式路径规划。用户可以选择步行、骑行或公交，系统会立即在地图上绘制出最优路线。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在开发过程中，我们遇到了一个典型的技术难题：坐标系不匹配导致的位置偏移。通过实现一套完整的坐标转换机制，我们彻底解决了这个问题。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同时，我们还设计了智能降级策略，确保即使外部API出现问题，导航功能依然可用。最后，我们通过动态可视化技术，让导航过程更加直观和流畅。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满足用户的个性化需求，我们提供了强大的筛选和搜索功能。用户可以通过设置价格、评分、距离、菜系等多种条件，快速找到自己心仪的餐厅。所有筛选逻辑都在前端完成，确保了即时响应。同时，我们还做了很多性能优化，比如防抖处理和分页加载，保证了页面的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相信，最好的推荐是个性化的。因此，我们设计了个性化设置功能。用户可以在这里配置自己的预算、步行距离、口味偏好等长期设置。这些设置会影响智能推荐的结果，实现真正的“千人千面”。例如，预算有限的同学和追求高品质的同学，会看到完全不同的推荐列表。这些设置保存在本地，即使用户关闭浏览器也不会丢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地图是我们系统的核心界面。我们提供了丰富的交互功能，让用户可以自由探索校园美食。在定位方面，我们通过一系列优化，将首次定位成功率从60%提升到了85%，平均定位精度也提高到了35米，这在室内环境下是一个非常不错的成绩。同时，我们彻底解决了坐标系偏移的问题，确保了所有餐厅位置的准确无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技术亮点是我们的高可用架构设计。我们从设计之初就考虑了各种可能的故障情况。比如，当高德地图API调用失败时，系统会自动切换到备用的路径计算方式，保证导航功能不会完全失效。当用户定位失败时，系统会提供一个默认位置，让用户依然可以使用搜索和浏览功能。这些容错机制，确保了系统在各种情况下都能提供稳定可靠的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发过程中，我们遇到了不少挑战。比如前面提到的坐标系问题，我们花了4天时间才彻底解决。还有定位精度不稳定的问题，通过一系列优化，我们将成功率提升了25个百分点。面对高德API的配额限制，我们也设计了多层保障机制。这些挑战不仅锻炼了我们解决问题的能力，也让我们的系统变得更加健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我的汇报到此结束，感谢各位老师和同学的聆听。我们非常期待能与大家进行交流，欢迎各位提问。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Layout" Target="../slideLayouts/slideLayout12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智慧校园餐厅推荐系统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03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基于智能算法的校园餐饮出行优化方案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4064000"/>
            <a:ext cx="6817995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2ECC7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70000" y="4318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2032000" y="4381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</a:t>
            </a: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2032000" y="482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5"/>
            </p:custDataLst>
          </p:nvPr>
        </p:nvSpPr>
        <p:spPr>
          <a:xfrm>
            <a:off x="8128000" y="4064000"/>
            <a:ext cx="304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2ECC7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2000" y="4318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7"/>
            </p:custDataLst>
          </p:nvPr>
        </p:nvSpPr>
        <p:spPr>
          <a:xfrm>
            <a:off x="9144000" y="43815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>
                <a:solidFill>
                  <a:schemeClr val="bg1"/>
                </a:solidFill>
                <a:ea typeface="宋体" panose="02010600030101010101" pitchFamily="2" charset="-122"/>
              </a:rPr>
              <a:t>日期</a:t>
            </a:r>
          </a:p>
        </p:txBody>
      </p:sp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9144000" y="4826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2026年5月23日</a:t>
            </a:r>
            <a:endParaRPr lang="en-US" sz="1100" dirty="0"/>
          </a:p>
        </p:txBody>
      </p:sp>
      <p:sp>
        <p:nvSpPr>
          <p:cNvPr id="17" name="文本框 16"/>
          <p:cNvSpPr txBox="1"/>
          <p:nvPr/>
        </p:nvSpPr>
        <p:spPr>
          <a:xfrm>
            <a:off x="2032000" y="4906645"/>
            <a:ext cx="4313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</a:rPr>
              <a:t>石城玮</a:t>
            </a:r>
            <a:r>
              <a:rPr lang="en-US" altLang="zh-CN" sz="2400">
                <a:solidFill>
                  <a:schemeClr val="bg1"/>
                </a:solidFill>
              </a:rPr>
              <a:t>    </a:t>
            </a:r>
            <a:r>
              <a:rPr lang="zh-CN" altLang="en-US" sz="2400">
                <a:solidFill>
                  <a:schemeClr val="bg1"/>
                </a:solidFill>
                <a:ea typeface="宋体" panose="02010600030101010101" pitchFamily="2" charset="-122"/>
              </a:rPr>
              <a:t>李郅涵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44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2222500"/>
            <a:ext cx="508000" cy="508000"/>
          </a:xfrm>
          <a:prstGeom prst="ellipse">
            <a:avLst/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7780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175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3365500"/>
            <a:ext cx="508000" cy="508000"/>
          </a:xfrm>
          <a:prstGeom prst="ellipse">
            <a:avLst/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778000" y="3365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已完成功能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62000" y="4318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016000" y="4508500"/>
            <a:ext cx="508000" cy="508000"/>
          </a:xfrm>
          <a:prstGeom prst="ellipse">
            <a:avLst/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778000" y="4508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</a:t>
            </a: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223000" y="2032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477000" y="2222500"/>
            <a:ext cx="508000" cy="508000"/>
          </a:xfrm>
          <a:prstGeom prst="ellipse">
            <a:avLst/>
          </a:prstGeom>
          <a:solidFill>
            <a:srgbClr val="2ECC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7239000" y="2222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 dirty="0">
              <a:solidFill>
                <a:srgbClr val="2D374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项目背景与痛点分析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446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洞察校园餐饮出行的挑战与机遇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校园用餐出行痛点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06500" y="27559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8100" y="285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6924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选择困难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餐厅众多难抉择，评分、价格、拥挤度等关键信息不透明。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556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06500" y="37084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8100" y="381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36449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出行规划复杂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步行、骑行、公交多种方式并存，缺乏针对目的地的最优路径指导。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206500" y="46609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4571365"/>
            <a:ext cx="4699000" cy="838835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206500" y="47371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8100" y="48387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905000" y="46736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个性化需求缺失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难以满足不同学生在预算、口味偏好、健康饮食等方面的多样化需求。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2603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67500" y="27559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9100" y="2857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66000" y="26924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基于多维度用户画像算法，提供千人千面的个性化餐厅推荐。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556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67500" y="37084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69100" y="38100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36449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信息聚合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深度整合评分、人均价格、距离、实时排队状况等多维关键信息。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508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F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667500" y="4660900"/>
            <a:ext cx="508000" cy="508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69100" y="47625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366000" y="45974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无缝集成地图服务，提供步行、骑行等多种模式的最优出行路径规划。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系统架构概览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核心技术栈</a:t>
            </a:r>
            <a:endParaRPr lang="en-US" sz="1100"/>
          </a:p>
        </p:txBody>
      </p:sp>
      <p:cxnSp>
        <p:nvCxnSpPr>
          <p:cNvPr id="5" name="Connector 5"/>
          <p:cNvCxnSpPr/>
          <p:nvPr>
            <p:custDataLst>
              <p:tags r:id="rId3"/>
            </p:custDataLst>
          </p:nvPr>
        </p:nvCxnSpPr>
        <p:spPr>
          <a:xfrm rot="-9549">
            <a:off x="1016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D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2540000"/>
            <a:ext cx="4572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Flask + SQLite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Leaflet地图 + JavaScript</a:t>
            </a:r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地图服务：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高德地图API</a:t>
            </a:r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加权评分推荐算法</a:t>
            </a: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350000" y="1524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604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9549">
            <a:off x="6604009" y="2279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D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604000" y="2540000"/>
            <a:ext cx="4572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前端层：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负责用户界面与交互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API层：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提供RESTful API接口</a:t>
            </a:r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核心层：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包含推荐、路径规划、筛选引擎</a:t>
            </a:r>
          </a:p>
          <a:p>
            <a:pPr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持久化存储餐厅及用户数据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核心功能一：智能餐厅推荐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基于多维度智能算法的个性化推荐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功能描述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基于用户位置，综合评分、价格、距离等多维度因素，自动推荐优质餐厅。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显示推荐理由，帮助用户理解推荐逻辑。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采用加权评分算法，权重可动态调整，以适应不同用户偏好。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数据支撑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数据库包含400家南京大学鼓楼校区周边餐厅，信息实时更新。</a:t>
            </a:r>
          </a:p>
        </p:txBody>
      </p:sp>
      <p:pic>
        <p:nvPicPr>
          <p:cNvPr id="6" name="图片 5" descr="屏幕截图 2026-04-23 2127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95" y="2322830"/>
            <a:ext cx="6021705" cy="3482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核心功能二：多模式路径规划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91690"/>
            <a:ext cx="5080000" cy="3877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功能描述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支持步行、骑行、公交三种出行方式。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集成高德地图API，提供真实导航路径。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全方位数据展示</a:t>
            </a:r>
            <a:endParaRPr lang="en-US" sz="1800"/>
          </a:p>
          <a:p>
            <a:pPr indent="0" algn="l">
              <a:lnSpc>
                <a:spcPct val="125000"/>
              </a:lnSpc>
            </a:pPr>
            <a:r>
              <a:rPr lang="en-US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实时显示距离、耗时</a:t>
            </a:r>
            <a:br>
              <a:rPr lang="en-US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及关键路径节点详情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 descr="屏幕截图 2026-04-23 2129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345" y="2091690"/>
            <a:ext cx="5875020" cy="3880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核心功能三：高级筛选与搜索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334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功能描述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多维筛选：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价格区间、最低评分、最大距离、菜系偏好。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关键词搜索：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支持餐厅名、菜系、地址模糊匹配。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灵活排序：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按距离、评分、价格等排序。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技术实现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前端即时响应，结合防抖、分页加载等性能优化。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2032000"/>
            <a:ext cx="5080000" cy="3810000"/>
          </a:xfrm>
          <a:prstGeom prst="roundRect">
            <a:avLst>
              <a:gd name="adj" fmla="val 5333"/>
            </a:avLst>
          </a:prstGeom>
          <a:solidFill>
            <a:srgbClr val="E2E8F0">
              <a:alpha val="100000"/>
            </a:srgbClr>
          </a:solidFill>
          <a:ln w="12700" cap="flat" cmpd="sng">
            <a:solidFill>
              <a:srgbClr val="CBD5E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前端界面截图占位符</a:t>
            </a:r>
            <a:endParaRPr lang="en-US" sz="1100"/>
          </a:p>
        </p:txBody>
      </p:sp>
      <p:pic>
        <p:nvPicPr>
          <p:cNvPr id="5" name="图片 4" descr="屏幕截图 2026-04-23 213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65" y="1346835"/>
            <a:ext cx="5739130" cy="5304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核心功能四：个性化设置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功能描述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配置最高预算、最大步行距离、偏好菜系等，为用户量身定制推荐列表。</a:t>
            </a:r>
          </a:p>
          <a:p>
            <a:pPr indent="0" algn="l">
              <a:lnSpc>
                <a:spcPct val="125000"/>
              </a:lnSpc>
            </a:pPr>
            <a:endParaRPr 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本地持久化：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localStorage 存储设置，关闭浏览器不丢失。</a:t>
            </a: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实时生效：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修改后立即影响推荐结果，无需刷新页面。</a:t>
            </a:r>
          </a:p>
        </p:txBody>
      </p:sp>
      <p:pic>
        <p:nvPicPr>
          <p:cNvPr id="6" name="图片 5" descr="屏幕截图 2026-04-23 213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545" y="1292860"/>
            <a:ext cx="5059045" cy="5195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智能推荐算法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59664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综合得分 = w₁×评分 + w₂×价格 + w₃×距离 + w₄×等待时间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权重配置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评分40%，价格25%，距离20%，等待时间15%</a:t>
            </a: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915" y="1699895"/>
            <a:ext cx="7242175" cy="4255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路径规划部分代码实现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65" y="1555750"/>
            <a:ext cx="7720965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52400" y="10858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4770" y="198628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4770" y="340233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ECC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30,&quot;left&quot;:80,&quot;top&quot;:320,&quot;width&quot;:8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0,&quot;left&quot;:60,&quot;top&quot;:160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633</Words>
  <Application>Microsoft Office PowerPoint</Application>
  <PresentationFormat>宽屏</PresentationFormat>
  <Paragraphs>126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zhihan li</cp:lastModifiedBy>
  <cp:revision>2</cp:revision>
  <dcterms:created xsi:type="dcterms:W3CDTF">2026-04-23T14:40:22Z</dcterms:created>
  <dcterms:modified xsi:type="dcterms:W3CDTF">2026-05-23T04:04:21Z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09168AB29AFB415FB6B3F9A4D71CF330_12</vt:lpwstr>
  </property>
  <property fmtid="{D5CDD505-2E9C-101B-9397-08002B2CF9AE}" pid="3" name="KSOProductBuildVer">
    <vt:lpwstr>2052-12.1.0.20305</vt:lpwstr>
  </property>
</Properties>
</file>